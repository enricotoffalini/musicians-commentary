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6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9738F-79E9-DC23-AA5E-9F3495A550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18215A-2F49-6307-B1C4-03479855D4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9C5E30-5E00-71C9-1C1D-7D535267BD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879AB-E60A-4261-98DA-0C718B428030}" type="datetimeFigureOut">
              <a:rPr lang="en-GB" smtClean="0"/>
              <a:t>11/04/2026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E1BD58-AAEC-B6E2-5D81-04101F9565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B2A54B-00F2-F61A-19AA-A0F167D48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FF68F-81D5-4601-BA58-B3A592B5A6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04899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650908-4EFA-BEDD-6A42-EE6616EA8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0C701-9908-8AFE-0C94-DBBFF14F55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3688F9-D130-BA0B-4C8C-6E90F74450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879AB-E60A-4261-98DA-0C718B428030}" type="datetimeFigureOut">
              <a:rPr lang="en-GB" smtClean="0"/>
              <a:t>11/04/2026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E56531-3F0D-A119-4A8A-A260D0896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04BE0-F783-D07D-B54A-AA80F0553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FF68F-81D5-4601-BA58-B3A592B5A6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14770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3AC62-9F5A-3EF8-F778-750E67441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152820-5F71-8F7D-E2DF-A85DCFB158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259D12-3BF2-758A-DDF0-FC4873097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879AB-E60A-4261-98DA-0C718B428030}" type="datetimeFigureOut">
              <a:rPr lang="en-GB" smtClean="0"/>
              <a:t>11/04/2026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BDE824-49EA-DAE4-7C03-2BD90B7F2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513C0-3433-23AD-1544-979A2D121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FF68F-81D5-4601-BA58-B3A592B5A6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69288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390BF4-69BC-281A-DDFD-E922AC86A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34F1D1-FD29-D7B6-12F3-1C45C0B36C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26E3AA-FDBC-50AD-A67E-1C9E2B8C73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0D9E6E-D644-105A-9710-E60413570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879AB-E60A-4261-98DA-0C718B428030}" type="datetimeFigureOut">
              <a:rPr lang="en-GB" smtClean="0"/>
              <a:t>11/04/2026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0D8CB1-1374-1DD0-3029-36683038A4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D282FC-D8DF-8F49-9339-05F59D404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FF68F-81D5-4601-BA58-B3A592B5A6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568423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FFA5D1-DA92-068E-AB2D-E7D23EFD6D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618667-2446-1605-CECA-8EFCDA3C6C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BC6CCC-43BB-27D9-56A5-77BEB994E6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2AAD4F-897D-C2E4-56F1-47F2B503DC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0B5488-3B2D-59C1-18D0-8248EB9DDE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49FA5A-84C1-517C-FE71-78C39D2F9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879AB-E60A-4261-98DA-0C718B428030}" type="datetimeFigureOut">
              <a:rPr lang="en-GB" smtClean="0"/>
              <a:t>11/04/2026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0C1EFA9-864A-7994-FCC0-53D540339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67ED7C-69D2-3EA8-551A-8053B1E9F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FF68F-81D5-4601-BA58-B3A592B5A6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0659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C3FE2D-FFD0-09F0-BBA6-5E7BC1E46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0C0C0C-4CEA-6C79-74DB-2AE5EA6747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879AB-E60A-4261-98DA-0C718B428030}" type="datetimeFigureOut">
              <a:rPr lang="en-GB" smtClean="0"/>
              <a:t>11/04/2026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82BE28-D1C6-B0E8-7FFA-7AB83D01C8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27E81E-5A6E-043F-F5AC-900CB70E3F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FF68F-81D5-4601-BA58-B3A592B5A6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41571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685F3AF-8390-B4A8-61EE-BB83608FDB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879AB-E60A-4261-98DA-0C718B428030}" type="datetimeFigureOut">
              <a:rPr lang="en-GB" smtClean="0"/>
              <a:t>11/04/2026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B0CAE0-9305-26C9-30FF-378BE38C2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DE0AE-4A49-E619-18E7-493F6FA2A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FF68F-81D5-4601-BA58-B3A592B5A6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287667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DD909-58C4-C70A-7D1F-DA73BAB17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B9850C-3B85-A79A-C68A-4A73A5DDB1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DBB8C5-E221-BA82-C883-D8973F77B6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18E93B-EAAF-A9E7-EBB3-94CE3730C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879AB-E60A-4261-98DA-0C718B428030}" type="datetimeFigureOut">
              <a:rPr lang="en-GB" smtClean="0"/>
              <a:t>11/04/2026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82ABE8-2022-0FE7-74D5-FB8F879D13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92229F-6B2C-DCFE-A3D7-0631426A9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FF68F-81D5-4601-BA58-B3A592B5A6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0592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4B1A16-55D6-DAB4-7699-9DCDE7E3D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9E49108-D0E7-F939-29E4-DADA4B82F7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FB8929-1102-E1C1-6638-52ACEA20EC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C65327-56C0-0DB8-C5E9-6D838DDF5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879AB-E60A-4261-98DA-0C718B428030}" type="datetimeFigureOut">
              <a:rPr lang="en-GB" smtClean="0"/>
              <a:t>11/04/2026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372DC3-4C65-CE4B-DA52-E270588E58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E5DDBF-7537-4D95-AEDC-2E99F69A8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FF68F-81D5-4601-BA58-B3A592B5A6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05258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71B9C-F2C9-62AA-95AB-7F489363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7527DC-CCA2-8941-1C5F-BA870279E3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B9AF07-616A-FBFE-2CC6-77676BBE3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879AB-E60A-4261-98DA-0C718B428030}" type="datetimeFigureOut">
              <a:rPr lang="en-GB" smtClean="0"/>
              <a:t>11/04/2026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35A7A6-0F29-DF7E-461A-75F3E81D5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08B662-82F4-1587-314A-F39B28CA9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FF68F-81D5-4601-BA58-B3A592B5A6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56498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EE8C2AD-73BC-5549-E53D-921C8D107AE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802CCA-6458-3B57-D580-EC63204F24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9C8D69-8124-125C-7440-4ED12C2F6B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879AB-E60A-4261-98DA-0C718B428030}" type="datetimeFigureOut">
              <a:rPr lang="en-GB" smtClean="0"/>
              <a:t>11/04/2026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5A44B8-78A3-2BEF-D792-3C84B4DE5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3E80BE-247B-2D67-CCBA-D810CD5E7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FF68F-81D5-4601-BA58-B3A592B5A6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83882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5C82363-1AE2-F7E5-B3B3-C4A9DA712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641D02-A13B-44B6-B518-D93D63F038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804CA6-568E-C046-C423-3D6F6645ED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5879AB-E60A-4261-98DA-0C718B428030}" type="datetimeFigureOut">
              <a:rPr lang="en-GB" smtClean="0"/>
              <a:t>11/04/2026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F526A1-F7AD-3C9D-FFDC-0D72917615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DDED60-8453-BD0D-6FED-E26F2B2114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AFF68F-81D5-4601-BA58-B3A592B5A6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64415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Rectangle 106">
            <a:extLst>
              <a:ext uri="{FF2B5EF4-FFF2-40B4-BE49-F238E27FC236}">
                <a16:creationId xmlns:a16="http://schemas.microsoft.com/office/drawing/2014/main" id="{3048E9DE-A2EF-1DFE-88BA-DE45510FBFBB}"/>
              </a:ext>
            </a:extLst>
          </p:cNvPr>
          <p:cNvSpPr/>
          <p:nvPr/>
        </p:nvSpPr>
        <p:spPr>
          <a:xfrm>
            <a:off x="3679184" y="1062769"/>
            <a:ext cx="1200303" cy="72132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SES</a:t>
            </a:r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30A27AD2-CFD1-519C-5D6A-FC3CE3AED459}"/>
              </a:ext>
            </a:extLst>
          </p:cNvPr>
          <p:cNvCxnSpPr>
            <a:cxnSpLocks/>
            <a:stCxn id="107" idx="3"/>
            <a:endCxn id="10" idx="2"/>
          </p:cNvCxnSpPr>
          <p:nvPr/>
        </p:nvCxnSpPr>
        <p:spPr>
          <a:xfrm>
            <a:off x="4879487" y="1423430"/>
            <a:ext cx="1317131" cy="239659"/>
          </a:xfrm>
          <a:prstGeom prst="straightConnector1">
            <a:avLst/>
          </a:prstGeom>
          <a:ln>
            <a:solidFill>
              <a:schemeClr val="tx1"/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FAD3205D-F26D-9A6F-83DB-7729227CE83A}"/>
              </a:ext>
            </a:extLst>
          </p:cNvPr>
          <p:cNvSpPr/>
          <p:nvPr/>
        </p:nvSpPr>
        <p:spPr>
          <a:xfrm>
            <a:off x="2469544" y="3591058"/>
            <a:ext cx="1147483" cy="5916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500" dirty="0">
                <a:solidFill>
                  <a:schemeClr val="tx1"/>
                </a:solidFill>
              </a:rPr>
              <a:t>Raven Matrices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674A690-73CE-9A32-EE4B-5EDCD93702FF}"/>
              </a:ext>
            </a:extLst>
          </p:cNvPr>
          <p:cNvSpPr/>
          <p:nvPr/>
        </p:nvSpPr>
        <p:spPr>
          <a:xfrm>
            <a:off x="3948721" y="3591058"/>
            <a:ext cx="1147483" cy="5916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500" dirty="0">
                <a:solidFill>
                  <a:schemeClr val="tx1"/>
                </a:solidFill>
              </a:rPr>
              <a:t>Wechsler</a:t>
            </a:r>
          </a:p>
          <a:p>
            <a:pPr algn="ctr"/>
            <a:r>
              <a:rPr lang="en-GB" sz="1500" dirty="0">
                <a:solidFill>
                  <a:schemeClr val="tx1"/>
                </a:solidFill>
              </a:rPr>
              <a:t>Vocabulary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96864E9-FE8D-B0A1-E526-FEC097FBC6F8}"/>
              </a:ext>
            </a:extLst>
          </p:cNvPr>
          <p:cNvSpPr/>
          <p:nvPr/>
        </p:nvSpPr>
        <p:spPr>
          <a:xfrm>
            <a:off x="5427897" y="3591058"/>
            <a:ext cx="1147483" cy="5916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500" dirty="0">
                <a:solidFill>
                  <a:schemeClr val="tx1"/>
                </a:solidFill>
              </a:rPr>
              <a:t>n-back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7A5030-4945-BA53-BE66-B8FA769C9E6E}"/>
              </a:ext>
            </a:extLst>
          </p:cNvPr>
          <p:cNvSpPr/>
          <p:nvPr/>
        </p:nvSpPr>
        <p:spPr>
          <a:xfrm>
            <a:off x="8386249" y="3600022"/>
            <a:ext cx="1147483" cy="5916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500" dirty="0">
                <a:solidFill>
                  <a:schemeClr val="tx1"/>
                </a:solidFill>
              </a:rPr>
              <a:t>Digit </a:t>
            </a:r>
          </a:p>
          <a:p>
            <a:pPr algn="ctr"/>
            <a:r>
              <a:rPr lang="en-GB" sz="1500" dirty="0">
                <a:solidFill>
                  <a:schemeClr val="tx1"/>
                </a:solidFill>
              </a:rPr>
              <a:t>span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19C0B8E-6CA4-0622-DF3A-31648CD4FB14}"/>
              </a:ext>
            </a:extLst>
          </p:cNvPr>
          <p:cNvSpPr/>
          <p:nvPr/>
        </p:nvSpPr>
        <p:spPr>
          <a:xfrm>
            <a:off x="6907073" y="3591058"/>
            <a:ext cx="1147483" cy="5916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500" dirty="0">
                <a:solidFill>
                  <a:schemeClr val="tx1"/>
                </a:solidFill>
              </a:rPr>
              <a:t>Spatial span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481A241-8679-5BD1-2EE4-5CD16B966B25}"/>
              </a:ext>
            </a:extLst>
          </p:cNvPr>
          <p:cNvSpPr/>
          <p:nvPr/>
        </p:nvSpPr>
        <p:spPr>
          <a:xfrm>
            <a:off x="9865424" y="3591058"/>
            <a:ext cx="1147483" cy="5916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500" dirty="0">
                <a:solidFill>
                  <a:schemeClr val="tx1"/>
                </a:solidFill>
              </a:rPr>
              <a:t>Melody span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354CE3C-C158-CC69-821A-41BCAF199859}"/>
              </a:ext>
            </a:extLst>
          </p:cNvPr>
          <p:cNvSpPr/>
          <p:nvPr/>
        </p:nvSpPr>
        <p:spPr>
          <a:xfrm>
            <a:off x="6196618" y="1089347"/>
            <a:ext cx="1434353" cy="1147483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9FC94AD-835D-5F53-3152-0A00660EA706}"/>
              </a:ext>
            </a:extLst>
          </p:cNvPr>
          <p:cNvCxnSpPr>
            <a:stCxn id="10" idx="4"/>
            <a:endCxn id="4" idx="0"/>
          </p:cNvCxnSpPr>
          <p:nvPr/>
        </p:nvCxnSpPr>
        <p:spPr>
          <a:xfrm flipH="1">
            <a:off x="3043286" y="2236830"/>
            <a:ext cx="3870509" cy="1354228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5630C62-64EC-4305-FF9B-F3A6AC83907C}"/>
              </a:ext>
            </a:extLst>
          </p:cNvPr>
          <p:cNvCxnSpPr>
            <a:cxnSpLocks/>
            <a:stCxn id="10" idx="4"/>
            <a:endCxn id="5" idx="0"/>
          </p:cNvCxnSpPr>
          <p:nvPr/>
        </p:nvCxnSpPr>
        <p:spPr>
          <a:xfrm flipH="1">
            <a:off x="4522463" y="2236830"/>
            <a:ext cx="2391332" cy="1354228"/>
          </a:xfrm>
          <a:prstGeom prst="straightConnector1">
            <a:avLst/>
          </a:prstGeom>
          <a:ln>
            <a:solidFill>
              <a:schemeClr val="tx1"/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8556157-262A-8ED9-6D00-8793EBE652EE}"/>
              </a:ext>
            </a:extLst>
          </p:cNvPr>
          <p:cNvCxnSpPr>
            <a:cxnSpLocks/>
            <a:stCxn id="10" idx="4"/>
            <a:endCxn id="6" idx="0"/>
          </p:cNvCxnSpPr>
          <p:nvPr/>
        </p:nvCxnSpPr>
        <p:spPr>
          <a:xfrm flipH="1">
            <a:off x="6001639" y="2236830"/>
            <a:ext cx="912156" cy="1354228"/>
          </a:xfrm>
          <a:prstGeom prst="straightConnector1">
            <a:avLst/>
          </a:prstGeom>
          <a:ln>
            <a:solidFill>
              <a:schemeClr val="tx1"/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D97F55B-F612-CCCC-F0A2-CCF8F97E0B1D}"/>
              </a:ext>
            </a:extLst>
          </p:cNvPr>
          <p:cNvCxnSpPr>
            <a:cxnSpLocks/>
            <a:stCxn id="10" idx="4"/>
            <a:endCxn id="8" idx="0"/>
          </p:cNvCxnSpPr>
          <p:nvPr/>
        </p:nvCxnSpPr>
        <p:spPr>
          <a:xfrm>
            <a:off x="6913795" y="2236830"/>
            <a:ext cx="567020" cy="1354228"/>
          </a:xfrm>
          <a:prstGeom prst="straightConnector1">
            <a:avLst/>
          </a:prstGeom>
          <a:ln>
            <a:solidFill>
              <a:schemeClr val="tx1"/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B6B35AA-A858-C123-2206-11FE194274D6}"/>
              </a:ext>
            </a:extLst>
          </p:cNvPr>
          <p:cNvCxnSpPr>
            <a:cxnSpLocks/>
            <a:stCxn id="10" idx="4"/>
            <a:endCxn id="7" idx="0"/>
          </p:cNvCxnSpPr>
          <p:nvPr/>
        </p:nvCxnSpPr>
        <p:spPr>
          <a:xfrm>
            <a:off x="6913795" y="2236830"/>
            <a:ext cx="2046196" cy="1363192"/>
          </a:xfrm>
          <a:prstGeom prst="straightConnector1">
            <a:avLst/>
          </a:prstGeom>
          <a:ln>
            <a:solidFill>
              <a:schemeClr val="tx1"/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B62185E-C1CB-60C8-DD5C-0C89D684F14E}"/>
              </a:ext>
            </a:extLst>
          </p:cNvPr>
          <p:cNvCxnSpPr>
            <a:cxnSpLocks/>
            <a:stCxn id="10" idx="4"/>
            <a:endCxn id="9" idx="0"/>
          </p:cNvCxnSpPr>
          <p:nvPr/>
        </p:nvCxnSpPr>
        <p:spPr>
          <a:xfrm>
            <a:off x="6913795" y="2236830"/>
            <a:ext cx="3525371" cy="1354228"/>
          </a:xfrm>
          <a:prstGeom prst="straightConnector1">
            <a:avLst/>
          </a:prstGeom>
          <a:ln>
            <a:solidFill>
              <a:schemeClr val="tx1"/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34AF160-FDD4-73BC-12D0-72EB0D2BEC59}"/>
              </a:ext>
            </a:extLst>
          </p:cNvPr>
          <p:cNvCxnSpPr>
            <a:cxnSpLocks/>
            <a:endCxn id="4" idx="2"/>
          </p:cNvCxnSpPr>
          <p:nvPr/>
        </p:nvCxnSpPr>
        <p:spPr>
          <a:xfrm flipV="1">
            <a:off x="3043286" y="4182728"/>
            <a:ext cx="0" cy="245837"/>
          </a:xfrm>
          <a:prstGeom prst="straightConnector1">
            <a:avLst/>
          </a:prstGeom>
          <a:ln>
            <a:solidFill>
              <a:schemeClr val="tx1"/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C62F46F-8D2B-6BB9-0261-AA377F01A4B0}"/>
              </a:ext>
            </a:extLst>
          </p:cNvPr>
          <p:cNvCxnSpPr>
            <a:cxnSpLocks/>
          </p:cNvCxnSpPr>
          <p:nvPr/>
        </p:nvCxnSpPr>
        <p:spPr>
          <a:xfrm flipV="1">
            <a:off x="4508784" y="4182728"/>
            <a:ext cx="0" cy="245837"/>
          </a:xfrm>
          <a:prstGeom prst="straightConnector1">
            <a:avLst/>
          </a:prstGeom>
          <a:ln>
            <a:solidFill>
              <a:schemeClr val="tx1"/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A531965-2DE1-4D80-C69D-715C253E5EF5}"/>
              </a:ext>
            </a:extLst>
          </p:cNvPr>
          <p:cNvCxnSpPr>
            <a:cxnSpLocks/>
          </p:cNvCxnSpPr>
          <p:nvPr/>
        </p:nvCxnSpPr>
        <p:spPr>
          <a:xfrm flipV="1">
            <a:off x="6001639" y="4182728"/>
            <a:ext cx="0" cy="245837"/>
          </a:xfrm>
          <a:prstGeom prst="straightConnector1">
            <a:avLst/>
          </a:prstGeom>
          <a:ln>
            <a:solidFill>
              <a:schemeClr val="tx1"/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3B238979-04AC-B68B-8164-30519EBB28CF}"/>
              </a:ext>
            </a:extLst>
          </p:cNvPr>
          <p:cNvCxnSpPr>
            <a:cxnSpLocks/>
          </p:cNvCxnSpPr>
          <p:nvPr/>
        </p:nvCxnSpPr>
        <p:spPr>
          <a:xfrm flipV="1">
            <a:off x="7480815" y="4182728"/>
            <a:ext cx="0" cy="245837"/>
          </a:xfrm>
          <a:prstGeom prst="straightConnector1">
            <a:avLst/>
          </a:prstGeom>
          <a:ln>
            <a:solidFill>
              <a:schemeClr val="tx1"/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20CA0825-BD13-61BE-B0D7-B64B1E05B5ED}"/>
              </a:ext>
            </a:extLst>
          </p:cNvPr>
          <p:cNvCxnSpPr>
            <a:cxnSpLocks/>
          </p:cNvCxnSpPr>
          <p:nvPr/>
        </p:nvCxnSpPr>
        <p:spPr>
          <a:xfrm flipV="1">
            <a:off x="8959991" y="4191692"/>
            <a:ext cx="0" cy="245837"/>
          </a:xfrm>
          <a:prstGeom prst="straightConnector1">
            <a:avLst/>
          </a:prstGeom>
          <a:ln>
            <a:solidFill>
              <a:schemeClr val="tx1"/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F385139-6028-ED6D-B495-F44ECDD254D0}"/>
              </a:ext>
            </a:extLst>
          </p:cNvPr>
          <p:cNvCxnSpPr>
            <a:cxnSpLocks/>
          </p:cNvCxnSpPr>
          <p:nvPr/>
        </p:nvCxnSpPr>
        <p:spPr>
          <a:xfrm flipV="1">
            <a:off x="10439166" y="4182728"/>
            <a:ext cx="0" cy="245837"/>
          </a:xfrm>
          <a:prstGeom prst="straightConnector1">
            <a:avLst/>
          </a:prstGeom>
          <a:ln>
            <a:solidFill>
              <a:schemeClr val="tx1"/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>
            <a:extLst>
              <a:ext uri="{FF2B5EF4-FFF2-40B4-BE49-F238E27FC236}">
                <a16:creationId xmlns:a16="http://schemas.microsoft.com/office/drawing/2014/main" id="{CE4A7636-DD03-1C66-B8CD-75970B4DC34A}"/>
              </a:ext>
            </a:extLst>
          </p:cNvPr>
          <p:cNvSpPr/>
          <p:nvPr/>
        </p:nvSpPr>
        <p:spPr>
          <a:xfrm>
            <a:off x="2893129" y="4437529"/>
            <a:ext cx="300314" cy="30101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BBD11917-C7C4-9EF8-9983-07F374E13192}"/>
              </a:ext>
            </a:extLst>
          </p:cNvPr>
          <p:cNvSpPr/>
          <p:nvPr/>
        </p:nvSpPr>
        <p:spPr>
          <a:xfrm>
            <a:off x="4358627" y="4437529"/>
            <a:ext cx="300314" cy="30101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20DF4A2F-58FD-1E45-D8AC-FF2AA0A846C3}"/>
              </a:ext>
            </a:extLst>
          </p:cNvPr>
          <p:cNvSpPr/>
          <p:nvPr/>
        </p:nvSpPr>
        <p:spPr>
          <a:xfrm>
            <a:off x="5851480" y="4437529"/>
            <a:ext cx="300314" cy="30101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391B521F-5A03-8C9B-33E0-35BF44899337}"/>
              </a:ext>
            </a:extLst>
          </p:cNvPr>
          <p:cNvSpPr/>
          <p:nvPr/>
        </p:nvSpPr>
        <p:spPr>
          <a:xfrm>
            <a:off x="7330657" y="4428565"/>
            <a:ext cx="300314" cy="30101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4C454432-786A-68EE-EFB7-16D990733793}"/>
              </a:ext>
            </a:extLst>
          </p:cNvPr>
          <p:cNvSpPr/>
          <p:nvPr/>
        </p:nvSpPr>
        <p:spPr>
          <a:xfrm>
            <a:off x="8809834" y="4428565"/>
            <a:ext cx="300314" cy="30101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85C29BAE-D4CD-A0E3-2E0A-9C550CF927B9}"/>
              </a:ext>
            </a:extLst>
          </p:cNvPr>
          <p:cNvSpPr/>
          <p:nvPr/>
        </p:nvSpPr>
        <p:spPr>
          <a:xfrm>
            <a:off x="10289007" y="4428565"/>
            <a:ext cx="300314" cy="30101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50" name="Right Bracket 49">
            <a:extLst>
              <a:ext uri="{FF2B5EF4-FFF2-40B4-BE49-F238E27FC236}">
                <a16:creationId xmlns:a16="http://schemas.microsoft.com/office/drawing/2014/main" id="{6F95E0D3-1C0A-401C-D653-EB29C9E646E0}"/>
              </a:ext>
            </a:extLst>
          </p:cNvPr>
          <p:cNvSpPr/>
          <p:nvPr/>
        </p:nvSpPr>
        <p:spPr>
          <a:xfrm rot="5400000">
            <a:off x="5807189" y="3493463"/>
            <a:ext cx="376518" cy="2884602"/>
          </a:xfrm>
          <a:prstGeom prst="rightBracket">
            <a:avLst>
              <a:gd name="adj" fmla="val 395237"/>
            </a:avLst>
          </a:prstGeom>
          <a:ln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Right Bracket 50">
            <a:extLst>
              <a:ext uri="{FF2B5EF4-FFF2-40B4-BE49-F238E27FC236}">
                <a16:creationId xmlns:a16="http://schemas.microsoft.com/office/drawing/2014/main" id="{37536786-53BF-7408-37F8-E11C33EC6214}"/>
              </a:ext>
            </a:extLst>
          </p:cNvPr>
          <p:cNvSpPr/>
          <p:nvPr/>
        </p:nvSpPr>
        <p:spPr>
          <a:xfrm rot="5400000">
            <a:off x="8022487" y="4229216"/>
            <a:ext cx="376518" cy="1395168"/>
          </a:xfrm>
          <a:prstGeom prst="rightBracket">
            <a:avLst>
              <a:gd name="adj" fmla="val 395237"/>
            </a:avLst>
          </a:prstGeom>
          <a:ln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2" name="Right Bracket 51">
            <a:extLst>
              <a:ext uri="{FF2B5EF4-FFF2-40B4-BE49-F238E27FC236}">
                <a16:creationId xmlns:a16="http://schemas.microsoft.com/office/drawing/2014/main" id="{1DC1E793-4527-1297-EACF-FBA8ACC3875B}"/>
              </a:ext>
            </a:extLst>
          </p:cNvPr>
          <p:cNvSpPr/>
          <p:nvPr/>
        </p:nvSpPr>
        <p:spPr>
          <a:xfrm rot="5400000">
            <a:off x="9507209" y="4233932"/>
            <a:ext cx="376518" cy="1385740"/>
          </a:xfrm>
          <a:prstGeom prst="rightBracket">
            <a:avLst>
              <a:gd name="adj" fmla="val 395237"/>
            </a:avLst>
          </a:prstGeom>
          <a:ln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2" name="Isosceles Triangle 71">
            <a:extLst>
              <a:ext uri="{FF2B5EF4-FFF2-40B4-BE49-F238E27FC236}">
                <a16:creationId xmlns:a16="http://schemas.microsoft.com/office/drawing/2014/main" id="{A0300B33-5E5A-138A-241E-C27554FE5D53}"/>
              </a:ext>
            </a:extLst>
          </p:cNvPr>
          <p:cNvSpPr/>
          <p:nvPr/>
        </p:nvSpPr>
        <p:spPr>
          <a:xfrm>
            <a:off x="8842180" y="1456900"/>
            <a:ext cx="495650" cy="39444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3" name="Isosceles Triangle 72">
            <a:extLst>
              <a:ext uri="{FF2B5EF4-FFF2-40B4-BE49-F238E27FC236}">
                <a16:creationId xmlns:a16="http://schemas.microsoft.com/office/drawing/2014/main" id="{B7D55814-C09F-A77B-1082-12D85017E7D4}"/>
              </a:ext>
            </a:extLst>
          </p:cNvPr>
          <p:cNvSpPr/>
          <p:nvPr/>
        </p:nvSpPr>
        <p:spPr>
          <a:xfrm>
            <a:off x="10645137" y="4817879"/>
            <a:ext cx="495650" cy="39444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3C50F591-8539-097C-88BE-4A37139C6C0C}"/>
              </a:ext>
            </a:extLst>
          </p:cNvPr>
          <p:cNvCxnSpPr>
            <a:cxnSpLocks/>
            <a:stCxn id="72" idx="1"/>
            <a:endCxn id="10" idx="6"/>
          </p:cNvCxnSpPr>
          <p:nvPr/>
        </p:nvCxnSpPr>
        <p:spPr>
          <a:xfrm flipH="1">
            <a:off x="7630971" y="1654124"/>
            <a:ext cx="1335122" cy="8965"/>
          </a:xfrm>
          <a:prstGeom prst="straightConnector1">
            <a:avLst/>
          </a:prstGeom>
          <a:ln>
            <a:solidFill>
              <a:schemeClr val="tx1"/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EFAA1D0A-DC9B-5F64-8965-3D2DA1B61A94}"/>
              </a:ext>
            </a:extLst>
          </p:cNvPr>
          <p:cNvCxnSpPr>
            <a:cxnSpLocks/>
            <a:stCxn id="73" idx="0"/>
          </p:cNvCxnSpPr>
          <p:nvPr/>
        </p:nvCxnSpPr>
        <p:spPr>
          <a:xfrm flipV="1">
            <a:off x="10892962" y="4191692"/>
            <a:ext cx="0" cy="626187"/>
          </a:xfrm>
          <a:prstGeom prst="straightConnector1">
            <a:avLst/>
          </a:prstGeom>
          <a:ln>
            <a:solidFill>
              <a:schemeClr val="tx1"/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Arc 90">
            <a:extLst>
              <a:ext uri="{FF2B5EF4-FFF2-40B4-BE49-F238E27FC236}">
                <a16:creationId xmlns:a16="http://schemas.microsoft.com/office/drawing/2014/main" id="{0D6A2687-ED50-9A43-255D-254CF13E8F0D}"/>
              </a:ext>
            </a:extLst>
          </p:cNvPr>
          <p:cNvSpPr/>
          <p:nvPr/>
        </p:nvSpPr>
        <p:spPr>
          <a:xfrm rot="9393425">
            <a:off x="2720775" y="4566835"/>
            <a:ext cx="191174" cy="202634"/>
          </a:xfrm>
          <a:prstGeom prst="arc">
            <a:avLst>
              <a:gd name="adj1" fmla="val 12922033"/>
              <a:gd name="adj2" fmla="val 8957233"/>
            </a:avLst>
          </a:prstGeom>
          <a:ln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5" name="Arc 94">
            <a:extLst>
              <a:ext uri="{FF2B5EF4-FFF2-40B4-BE49-F238E27FC236}">
                <a16:creationId xmlns:a16="http://schemas.microsoft.com/office/drawing/2014/main" id="{46F7DC11-38B0-414D-D6D7-0FAA6A1E575A}"/>
              </a:ext>
            </a:extLst>
          </p:cNvPr>
          <p:cNvSpPr/>
          <p:nvPr/>
        </p:nvSpPr>
        <p:spPr>
          <a:xfrm rot="9393425">
            <a:off x="4177800" y="4566836"/>
            <a:ext cx="191174" cy="202634"/>
          </a:xfrm>
          <a:prstGeom prst="arc">
            <a:avLst>
              <a:gd name="adj1" fmla="val 12922033"/>
              <a:gd name="adj2" fmla="val 8957233"/>
            </a:avLst>
          </a:prstGeom>
          <a:ln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6" name="Arc 95">
            <a:extLst>
              <a:ext uri="{FF2B5EF4-FFF2-40B4-BE49-F238E27FC236}">
                <a16:creationId xmlns:a16="http://schemas.microsoft.com/office/drawing/2014/main" id="{C57DA6D2-004F-5AD0-A6E7-2B1188620D84}"/>
              </a:ext>
            </a:extLst>
          </p:cNvPr>
          <p:cNvSpPr/>
          <p:nvPr/>
        </p:nvSpPr>
        <p:spPr>
          <a:xfrm rot="9393425">
            <a:off x="5679185" y="4617700"/>
            <a:ext cx="191174" cy="202634"/>
          </a:xfrm>
          <a:prstGeom prst="arc">
            <a:avLst>
              <a:gd name="adj1" fmla="val 12922033"/>
              <a:gd name="adj2" fmla="val 8957233"/>
            </a:avLst>
          </a:prstGeom>
          <a:ln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7" name="Arc 96">
            <a:extLst>
              <a:ext uri="{FF2B5EF4-FFF2-40B4-BE49-F238E27FC236}">
                <a16:creationId xmlns:a16="http://schemas.microsoft.com/office/drawing/2014/main" id="{3EC205C3-ED8E-567D-85D9-59AA292523EA}"/>
              </a:ext>
            </a:extLst>
          </p:cNvPr>
          <p:cNvSpPr/>
          <p:nvPr/>
        </p:nvSpPr>
        <p:spPr>
          <a:xfrm rot="9393425">
            <a:off x="7171764" y="4562571"/>
            <a:ext cx="191174" cy="202634"/>
          </a:xfrm>
          <a:prstGeom prst="arc">
            <a:avLst>
              <a:gd name="adj1" fmla="val 12922033"/>
              <a:gd name="adj2" fmla="val 8957233"/>
            </a:avLst>
          </a:prstGeom>
          <a:ln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8" name="Arc 97">
            <a:extLst>
              <a:ext uri="{FF2B5EF4-FFF2-40B4-BE49-F238E27FC236}">
                <a16:creationId xmlns:a16="http://schemas.microsoft.com/office/drawing/2014/main" id="{F34EABC2-1626-C164-D3A1-5D97D4A6F55E}"/>
              </a:ext>
            </a:extLst>
          </p:cNvPr>
          <p:cNvSpPr/>
          <p:nvPr/>
        </p:nvSpPr>
        <p:spPr>
          <a:xfrm rot="9393425">
            <a:off x="8648074" y="4540948"/>
            <a:ext cx="191174" cy="202634"/>
          </a:xfrm>
          <a:prstGeom prst="arc">
            <a:avLst>
              <a:gd name="adj1" fmla="val 12922033"/>
              <a:gd name="adj2" fmla="val 8957233"/>
            </a:avLst>
          </a:prstGeom>
          <a:ln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9" name="Arc 98">
            <a:extLst>
              <a:ext uri="{FF2B5EF4-FFF2-40B4-BE49-F238E27FC236}">
                <a16:creationId xmlns:a16="http://schemas.microsoft.com/office/drawing/2014/main" id="{466CDB29-0E0F-7225-4117-1ACA4B7593CA}"/>
              </a:ext>
            </a:extLst>
          </p:cNvPr>
          <p:cNvSpPr/>
          <p:nvPr/>
        </p:nvSpPr>
        <p:spPr>
          <a:xfrm rot="9393425">
            <a:off x="10119881" y="4550421"/>
            <a:ext cx="191174" cy="202634"/>
          </a:xfrm>
          <a:prstGeom prst="arc">
            <a:avLst>
              <a:gd name="adj1" fmla="val 12922033"/>
              <a:gd name="adj2" fmla="val 8957233"/>
            </a:avLst>
          </a:prstGeom>
          <a:ln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100E8614-D7B1-0585-0751-4C81E2769F79}"/>
              </a:ext>
            </a:extLst>
          </p:cNvPr>
          <p:cNvSpPr txBox="1"/>
          <p:nvPr/>
        </p:nvSpPr>
        <p:spPr>
          <a:xfrm>
            <a:off x="4422784" y="2858162"/>
            <a:ext cx="636278" cy="292388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wrap="square" rtlCol="0">
            <a:spAutoFit/>
          </a:bodyPr>
          <a:lstStyle/>
          <a:p>
            <a:pPr algn="ctr"/>
            <a:r>
              <a:rPr lang="en-GB" sz="1300" dirty="0"/>
              <a:t>0.58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98835A6-C071-D14A-BDEA-05D7F5E905B5}"/>
              </a:ext>
            </a:extLst>
          </p:cNvPr>
          <p:cNvSpPr txBox="1"/>
          <p:nvPr/>
        </p:nvSpPr>
        <p:spPr>
          <a:xfrm>
            <a:off x="5043861" y="2952190"/>
            <a:ext cx="636278" cy="292388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wrap="square" rtlCol="0">
            <a:spAutoFit/>
          </a:bodyPr>
          <a:lstStyle/>
          <a:p>
            <a:pPr algn="ctr"/>
            <a:r>
              <a:rPr lang="en-GB" sz="1300" dirty="0"/>
              <a:t>0.39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3D89E253-AF07-C305-474A-AEC490A471CE}"/>
              </a:ext>
            </a:extLst>
          </p:cNvPr>
          <p:cNvSpPr txBox="1"/>
          <p:nvPr/>
        </p:nvSpPr>
        <p:spPr>
          <a:xfrm>
            <a:off x="5995448" y="2974554"/>
            <a:ext cx="636278" cy="292388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wrap="square" rtlCol="0">
            <a:spAutoFit/>
          </a:bodyPr>
          <a:lstStyle/>
          <a:p>
            <a:pPr algn="ctr"/>
            <a:r>
              <a:rPr lang="en-GB" sz="1300" dirty="0"/>
              <a:t>0.47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208E118D-DEB8-3BF3-DB84-7821C3101053}"/>
              </a:ext>
            </a:extLst>
          </p:cNvPr>
          <p:cNvSpPr txBox="1"/>
          <p:nvPr/>
        </p:nvSpPr>
        <p:spPr>
          <a:xfrm>
            <a:off x="6917771" y="2969517"/>
            <a:ext cx="636278" cy="292388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wrap="square" rtlCol="0">
            <a:spAutoFit/>
          </a:bodyPr>
          <a:lstStyle/>
          <a:p>
            <a:pPr algn="ctr"/>
            <a:r>
              <a:rPr lang="en-GB" sz="1300" dirty="0"/>
              <a:t>0.44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9C3315A0-394F-23B6-C4C3-C42CB76392AA}"/>
              </a:ext>
            </a:extLst>
          </p:cNvPr>
          <p:cNvSpPr txBox="1"/>
          <p:nvPr/>
        </p:nvSpPr>
        <p:spPr>
          <a:xfrm>
            <a:off x="7889756" y="2948492"/>
            <a:ext cx="636278" cy="292388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wrap="square" rtlCol="0">
            <a:spAutoFit/>
          </a:bodyPr>
          <a:lstStyle/>
          <a:p>
            <a:pPr algn="ctr"/>
            <a:r>
              <a:rPr lang="en-GB" sz="1300" dirty="0"/>
              <a:t>0.36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127A5872-4AF0-1987-3C99-8C3C7A52ED37}"/>
              </a:ext>
            </a:extLst>
          </p:cNvPr>
          <p:cNvSpPr txBox="1"/>
          <p:nvPr/>
        </p:nvSpPr>
        <p:spPr>
          <a:xfrm>
            <a:off x="8745161" y="2913944"/>
            <a:ext cx="636278" cy="292388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wrap="square" rtlCol="0">
            <a:spAutoFit/>
          </a:bodyPr>
          <a:lstStyle/>
          <a:p>
            <a:pPr algn="ctr"/>
            <a:r>
              <a:rPr lang="en-GB" sz="1300" dirty="0"/>
              <a:t>0.22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B708C730-CF19-91DC-645A-F02C5CE6E01A}"/>
              </a:ext>
            </a:extLst>
          </p:cNvPr>
          <p:cNvSpPr txBox="1"/>
          <p:nvPr/>
        </p:nvSpPr>
        <p:spPr>
          <a:xfrm>
            <a:off x="5142253" y="1386962"/>
            <a:ext cx="636278" cy="292388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wrap="square" rtlCol="0">
            <a:spAutoFit/>
          </a:bodyPr>
          <a:lstStyle/>
          <a:p>
            <a:pPr algn="ctr"/>
            <a:r>
              <a:rPr lang="en-GB" sz="1300" dirty="0"/>
              <a:t>0.22</a:t>
            </a:r>
          </a:p>
        </p:txBody>
      </p:sp>
      <p:sp>
        <p:nvSpPr>
          <p:cNvPr id="117" name="Oval 116">
            <a:extLst>
              <a:ext uri="{FF2B5EF4-FFF2-40B4-BE49-F238E27FC236}">
                <a16:creationId xmlns:a16="http://schemas.microsoft.com/office/drawing/2014/main" id="{B09266F2-7050-09CF-2528-E278CAF4DC49}"/>
              </a:ext>
            </a:extLst>
          </p:cNvPr>
          <p:cNvSpPr/>
          <p:nvPr/>
        </p:nvSpPr>
        <p:spPr>
          <a:xfrm>
            <a:off x="7744451" y="746180"/>
            <a:ext cx="300314" cy="30101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637E51DA-17AC-A97E-B1A6-81BCC52F8F41}"/>
              </a:ext>
            </a:extLst>
          </p:cNvPr>
          <p:cNvCxnSpPr>
            <a:cxnSpLocks/>
            <a:stCxn id="117" idx="3"/>
            <a:endCxn id="10" idx="7"/>
          </p:cNvCxnSpPr>
          <p:nvPr/>
        </p:nvCxnSpPr>
        <p:spPr>
          <a:xfrm flipH="1">
            <a:off x="7420915" y="1003110"/>
            <a:ext cx="367516" cy="25428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Arc 121">
            <a:extLst>
              <a:ext uri="{FF2B5EF4-FFF2-40B4-BE49-F238E27FC236}">
                <a16:creationId xmlns:a16="http://schemas.microsoft.com/office/drawing/2014/main" id="{085AC985-EDA9-EDF7-2F60-2BBBB0C325B3}"/>
              </a:ext>
            </a:extLst>
          </p:cNvPr>
          <p:cNvSpPr/>
          <p:nvPr/>
        </p:nvSpPr>
        <p:spPr>
          <a:xfrm rot="947224">
            <a:off x="8018796" y="885564"/>
            <a:ext cx="191174" cy="202634"/>
          </a:xfrm>
          <a:prstGeom prst="arc">
            <a:avLst>
              <a:gd name="adj1" fmla="val 12922033"/>
              <a:gd name="adj2" fmla="val 8957233"/>
            </a:avLst>
          </a:prstGeom>
          <a:ln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4A2A1F15-9392-E803-FB75-D761D9DB2E5E}"/>
              </a:ext>
            </a:extLst>
          </p:cNvPr>
          <p:cNvSpPr txBox="1"/>
          <p:nvPr/>
        </p:nvSpPr>
        <p:spPr>
          <a:xfrm>
            <a:off x="8076211" y="865921"/>
            <a:ext cx="1228587" cy="292388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wrap="square" rtlCol="0">
            <a:spAutoFit/>
          </a:bodyPr>
          <a:lstStyle/>
          <a:p>
            <a:r>
              <a:rPr lang="en-GB" sz="1300" dirty="0"/>
              <a:t>1.00 / 1.00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DDE9DEBD-B174-1E3E-14D8-C9E983B45E5D}"/>
              </a:ext>
            </a:extLst>
          </p:cNvPr>
          <p:cNvSpPr txBox="1"/>
          <p:nvPr/>
        </p:nvSpPr>
        <p:spPr>
          <a:xfrm>
            <a:off x="9304798" y="4543205"/>
            <a:ext cx="991506" cy="292388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wrap="square" rtlCol="0">
            <a:spAutoFit/>
          </a:bodyPr>
          <a:lstStyle/>
          <a:p>
            <a:pPr algn="ctr"/>
            <a:r>
              <a:rPr lang="en-GB" sz="1300" dirty="0"/>
              <a:t>0.60 / 0.83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A137164D-4E3A-1AA8-04B6-AC453C4F9C96}"/>
              </a:ext>
            </a:extLst>
          </p:cNvPr>
          <p:cNvSpPr txBox="1"/>
          <p:nvPr/>
        </p:nvSpPr>
        <p:spPr>
          <a:xfrm>
            <a:off x="8032866" y="1452179"/>
            <a:ext cx="636278" cy="492443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wrap="square" rtlCol="0">
            <a:spAutoFit/>
          </a:bodyPr>
          <a:lstStyle/>
          <a:p>
            <a:pPr algn="ctr"/>
            <a:r>
              <a:rPr lang="el-GR" sz="1300" dirty="0"/>
              <a:t>Δμ</a:t>
            </a:r>
            <a:r>
              <a:rPr lang="en-GB" sz="1300" dirty="0"/>
              <a:t> = 0.51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2810547A-A289-BB3C-E42B-E6697714B3DE}"/>
              </a:ext>
            </a:extLst>
          </p:cNvPr>
          <p:cNvSpPr txBox="1"/>
          <p:nvPr/>
        </p:nvSpPr>
        <p:spPr>
          <a:xfrm>
            <a:off x="10645137" y="4426629"/>
            <a:ext cx="543368" cy="292388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wrap="square" rtlCol="0">
            <a:spAutoFit/>
          </a:bodyPr>
          <a:lstStyle/>
          <a:p>
            <a:pPr algn="ctr"/>
            <a:r>
              <a:rPr lang="en-GB" sz="1300" dirty="0"/>
              <a:t>0.85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BF7C0D94-7AE5-C14D-1E97-3D1A06A553DA}"/>
              </a:ext>
            </a:extLst>
          </p:cNvPr>
          <p:cNvSpPr txBox="1"/>
          <p:nvPr/>
        </p:nvSpPr>
        <p:spPr>
          <a:xfrm>
            <a:off x="7842399" y="4530463"/>
            <a:ext cx="991506" cy="292388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wrap="square" rtlCol="0">
            <a:spAutoFit/>
          </a:bodyPr>
          <a:lstStyle/>
          <a:p>
            <a:pPr algn="ctr"/>
            <a:r>
              <a:rPr lang="en-GB" sz="1300" dirty="0"/>
              <a:t>0.76 / 0.94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571B04FC-9009-6AC8-645A-954FB9554A47}"/>
              </a:ext>
            </a:extLst>
          </p:cNvPr>
          <p:cNvSpPr txBox="1"/>
          <p:nvPr/>
        </p:nvSpPr>
        <p:spPr>
          <a:xfrm>
            <a:off x="6356507" y="4547027"/>
            <a:ext cx="991506" cy="292388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wrap="square" rtlCol="0">
            <a:spAutoFit/>
          </a:bodyPr>
          <a:lstStyle/>
          <a:p>
            <a:pPr algn="ctr"/>
            <a:r>
              <a:rPr lang="en-GB" sz="1300" dirty="0"/>
              <a:t>0.60 / 0.96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B09F0023-E842-C572-BBA8-451DB08EA4E1}"/>
              </a:ext>
            </a:extLst>
          </p:cNvPr>
          <p:cNvSpPr txBox="1"/>
          <p:nvPr/>
        </p:nvSpPr>
        <p:spPr>
          <a:xfrm>
            <a:off x="4879534" y="4583514"/>
            <a:ext cx="991506" cy="292388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wrap="square" rtlCol="0">
            <a:spAutoFit/>
          </a:bodyPr>
          <a:lstStyle/>
          <a:p>
            <a:pPr algn="ctr"/>
            <a:r>
              <a:rPr lang="en-GB" sz="1300" dirty="0"/>
              <a:t>0.85 / 0.65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BAB0B571-8B9E-9A5B-A691-3D033774A9E1}"/>
              </a:ext>
            </a:extLst>
          </p:cNvPr>
          <p:cNvSpPr txBox="1"/>
          <p:nvPr/>
        </p:nvSpPr>
        <p:spPr>
          <a:xfrm>
            <a:off x="3363407" y="4530463"/>
            <a:ext cx="991506" cy="292388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wrap="square" rtlCol="0">
            <a:spAutoFit/>
          </a:bodyPr>
          <a:lstStyle/>
          <a:p>
            <a:pPr algn="ctr"/>
            <a:r>
              <a:rPr lang="en-GB" sz="1300" dirty="0"/>
              <a:t>0.98 / 0.67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A4B55025-8A10-16DF-7C74-3B28983F195C}"/>
              </a:ext>
            </a:extLst>
          </p:cNvPr>
          <p:cNvSpPr txBox="1"/>
          <p:nvPr/>
        </p:nvSpPr>
        <p:spPr>
          <a:xfrm>
            <a:off x="1886826" y="4537170"/>
            <a:ext cx="991506" cy="292388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wrap="square" rtlCol="0">
            <a:spAutoFit/>
          </a:bodyPr>
          <a:lstStyle/>
          <a:p>
            <a:pPr algn="ctr"/>
            <a:r>
              <a:rPr lang="en-GB" sz="1300" dirty="0"/>
              <a:t>0.61 / 0.62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19677063-5436-41E1-24F0-33CC2213F56F}"/>
              </a:ext>
            </a:extLst>
          </p:cNvPr>
          <p:cNvSpPr txBox="1"/>
          <p:nvPr/>
        </p:nvSpPr>
        <p:spPr>
          <a:xfrm>
            <a:off x="7783553" y="4974876"/>
            <a:ext cx="934773" cy="292388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wrap="square" rtlCol="0">
            <a:spAutoFit/>
          </a:bodyPr>
          <a:lstStyle/>
          <a:p>
            <a:pPr algn="ctr"/>
            <a:r>
              <a:rPr lang="en-GB" sz="1300" dirty="0"/>
              <a:t>0.09 / 0.13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13CB2B1E-122F-6CD7-CF6A-143FEA7719F1}"/>
              </a:ext>
            </a:extLst>
          </p:cNvPr>
          <p:cNvSpPr txBox="1"/>
          <p:nvPr/>
        </p:nvSpPr>
        <p:spPr>
          <a:xfrm>
            <a:off x="5589887" y="4966975"/>
            <a:ext cx="1196584" cy="292388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wrap="square" rtlCol="0">
            <a:spAutoFit/>
          </a:bodyPr>
          <a:lstStyle/>
          <a:p>
            <a:pPr algn="ctr"/>
            <a:r>
              <a:rPr lang="en-GB" sz="1300" dirty="0"/>
              <a:t>−0.17 / −0.15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7C67C902-8592-CBC3-B0D3-FCEF6BB83C95}"/>
              </a:ext>
            </a:extLst>
          </p:cNvPr>
          <p:cNvSpPr txBox="1"/>
          <p:nvPr/>
        </p:nvSpPr>
        <p:spPr>
          <a:xfrm>
            <a:off x="10611563" y="4349936"/>
            <a:ext cx="636278" cy="492443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wrap="square" rtlCol="0">
            <a:spAutoFit/>
          </a:bodyPr>
          <a:lstStyle/>
          <a:p>
            <a:pPr algn="ctr"/>
            <a:r>
              <a:rPr lang="el-GR" sz="1300" dirty="0"/>
              <a:t>Δμ</a:t>
            </a:r>
            <a:r>
              <a:rPr lang="en-GB" sz="1300" dirty="0"/>
              <a:t> = 0.85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CD335B83-7EC3-E709-0A91-2A8D6CDA63B2}"/>
              </a:ext>
            </a:extLst>
          </p:cNvPr>
          <p:cNvSpPr txBox="1"/>
          <p:nvPr/>
        </p:nvSpPr>
        <p:spPr>
          <a:xfrm>
            <a:off x="0" y="0"/>
            <a:ext cx="3078706" cy="292388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wrap="square" rtlCol="0">
            <a:spAutoFit/>
          </a:bodyPr>
          <a:lstStyle/>
          <a:p>
            <a:r>
              <a:rPr lang="en-GB" sz="1300" dirty="0"/>
              <a:t>NOT standardized coefficients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259AD72B-74E4-579B-FBB0-914A60120211}"/>
              </a:ext>
            </a:extLst>
          </p:cNvPr>
          <p:cNvSpPr txBox="1"/>
          <p:nvPr/>
        </p:nvSpPr>
        <p:spPr>
          <a:xfrm>
            <a:off x="155405" y="6229350"/>
            <a:ext cx="4888456" cy="292388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wrap="square" rtlCol="0">
            <a:spAutoFit/>
          </a:bodyPr>
          <a:lstStyle/>
          <a:p>
            <a:r>
              <a:rPr lang="el-GR" sz="1300" dirty="0"/>
              <a:t>χ</a:t>
            </a:r>
            <a:r>
              <a:rPr lang="en-GB" sz="1300" baseline="30000" dirty="0"/>
              <a:t>2</a:t>
            </a:r>
            <a:r>
              <a:rPr lang="en-GB" sz="1300" dirty="0"/>
              <a:t>(33) = 56.844; p = 0.006; RMSEA = 0.035; CFI = 0.966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C90BD8-B0E3-94F2-0017-254C04BB93F8}"/>
              </a:ext>
            </a:extLst>
          </p:cNvPr>
          <p:cNvSpPr txBox="1"/>
          <p:nvPr/>
        </p:nvSpPr>
        <p:spPr>
          <a:xfrm>
            <a:off x="9272304" y="4966975"/>
            <a:ext cx="934773" cy="292388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wrap="square" rtlCol="0">
            <a:spAutoFit/>
          </a:bodyPr>
          <a:lstStyle/>
          <a:p>
            <a:pPr algn="ctr"/>
            <a:r>
              <a:rPr lang="en-GB" sz="1300" dirty="0"/>
              <a:t>0.09 / 0.31</a:t>
            </a:r>
          </a:p>
        </p:txBody>
      </p:sp>
    </p:spTree>
    <p:extLst>
      <p:ext uri="{BB962C8B-B14F-4D97-AF65-F5344CB8AC3E}">
        <p14:creationId xmlns:p14="http://schemas.microsoft.com/office/powerpoint/2010/main" val="24661639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9075279-5A7E-3A80-79A7-9B9CC978A4AD}"/>
              </a:ext>
            </a:extLst>
          </p:cNvPr>
          <p:cNvSpPr/>
          <p:nvPr/>
        </p:nvSpPr>
        <p:spPr>
          <a:xfrm>
            <a:off x="3668590" y="501006"/>
            <a:ext cx="1200303" cy="72132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SES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24B5F40-FEE5-C79C-52EF-D8E54870D4B0}"/>
              </a:ext>
            </a:extLst>
          </p:cNvPr>
          <p:cNvCxnSpPr>
            <a:cxnSpLocks/>
            <a:stCxn id="4" idx="3"/>
            <a:endCxn id="12" idx="2"/>
          </p:cNvCxnSpPr>
          <p:nvPr/>
        </p:nvCxnSpPr>
        <p:spPr>
          <a:xfrm>
            <a:off x="4868893" y="861667"/>
            <a:ext cx="1327725" cy="801422"/>
          </a:xfrm>
          <a:prstGeom prst="straightConnector1">
            <a:avLst/>
          </a:prstGeom>
          <a:ln>
            <a:solidFill>
              <a:schemeClr val="tx1"/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11E0F323-1BCF-FB86-AD7C-A0723D1FBA66}"/>
              </a:ext>
            </a:extLst>
          </p:cNvPr>
          <p:cNvSpPr/>
          <p:nvPr/>
        </p:nvSpPr>
        <p:spPr>
          <a:xfrm>
            <a:off x="2469544" y="3591058"/>
            <a:ext cx="1147483" cy="5916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500" dirty="0">
                <a:solidFill>
                  <a:schemeClr val="tx1"/>
                </a:solidFill>
              </a:rPr>
              <a:t>Raven Matrices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54AA14E-847A-1AAF-A6D2-6DA0B3F85753}"/>
              </a:ext>
            </a:extLst>
          </p:cNvPr>
          <p:cNvSpPr/>
          <p:nvPr/>
        </p:nvSpPr>
        <p:spPr>
          <a:xfrm>
            <a:off x="3948721" y="3591058"/>
            <a:ext cx="1147483" cy="5916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500" dirty="0">
                <a:solidFill>
                  <a:schemeClr val="tx1"/>
                </a:solidFill>
              </a:rPr>
              <a:t>Wechsler</a:t>
            </a:r>
          </a:p>
          <a:p>
            <a:pPr algn="ctr"/>
            <a:r>
              <a:rPr lang="en-GB" sz="1500" dirty="0">
                <a:solidFill>
                  <a:schemeClr val="tx1"/>
                </a:solidFill>
              </a:rPr>
              <a:t>Vocabulary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8D9558D-95DF-62DF-2263-A72A3C6D1E06}"/>
              </a:ext>
            </a:extLst>
          </p:cNvPr>
          <p:cNvSpPr/>
          <p:nvPr/>
        </p:nvSpPr>
        <p:spPr>
          <a:xfrm>
            <a:off x="5427897" y="3591058"/>
            <a:ext cx="1147483" cy="5916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500" dirty="0">
                <a:solidFill>
                  <a:schemeClr val="tx1"/>
                </a:solidFill>
              </a:rPr>
              <a:t>n-back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D1ECF5D-794C-2FC8-43BA-7C004CF88DB6}"/>
              </a:ext>
            </a:extLst>
          </p:cNvPr>
          <p:cNvSpPr/>
          <p:nvPr/>
        </p:nvSpPr>
        <p:spPr>
          <a:xfrm>
            <a:off x="8386249" y="3600022"/>
            <a:ext cx="1147483" cy="5916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500" dirty="0">
                <a:solidFill>
                  <a:schemeClr val="tx1"/>
                </a:solidFill>
              </a:rPr>
              <a:t>Digit </a:t>
            </a:r>
          </a:p>
          <a:p>
            <a:pPr algn="ctr"/>
            <a:r>
              <a:rPr lang="en-GB" sz="1500" dirty="0">
                <a:solidFill>
                  <a:schemeClr val="tx1"/>
                </a:solidFill>
              </a:rPr>
              <a:t>span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8F73778-CF31-0EF4-021D-4EAAB2762134}"/>
              </a:ext>
            </a:extLst>
          </p:cNvPr>
          <p:cNvSpPr/>
          <p:nvPr/>
        </p:nvSpPr>
        <p:spPr>
          <a:xfrm>
            <a:off x="6907073" y="3591058"/>
            <a:ext cx="1147483" cy="5916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500" dirty="0">
                <a:solidFill>
                  <a:schemeClr val="tx1"/>
                </a:solidFill>
              </a:rPr>
              <a:t>Spatial span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7948B47-1198-B9EA-2041-ADDD4E79C54E}"/>
              </a:ext>
            </a:extLst>
          </p:cNvPr>
          <p:cNvSpPr/>
          <p:nvPr/>
        </p:nvSpPr>
        <p:spPr>
          <a:xfrm>
            <a:off x="9865424" y="3591058"/>
            <a:ext cx="1147483" cy="5916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500" dirty="0">
                <a:solidFill>
                  <a:schemeClr val="tx1"/>
                </a:solidFill>
              </a:rPr>
              <a:t>Melody span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B92D85-5A05-E76C-75CC-64745E391A08}"/>
              </a:ext>
            </a:extLst>
          </p:cNvPr>
          <p:cNvSpPr/>
          <p:nvPr/>
        </p:nvSpPr>
        <p:spPr>
          <a:xfrm>
            <a:off x="6196618" y="1089347"/>
            <a:ext cx="1434353" cy="1147483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664824B-CB97-B1D4-A33D-69C7B5B9EE6A}"/>
              </a:ext>
            </a:extLst>
          </p:cNvPr>
          <p:cNvCxnSpPr>
            <a:stCxn id="12" idx="4"/>
            <a:endCxn id="6" idx="0"/>
          </p:cNvCxnSpPr>
          <p:nvPr/>
        </p:nvCxnSpPr>
        <p:spPr>
          <a:xfrm flipH="1">
            <a:off x="3043286" y="2236830"/>
            <a:ext cx="3870509" cy="1354228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9EA3C2F-8B64-2DF0-2759-C785E486EADF}"/>
              </a:ext>
            </a:extLst>
          </p:cNvPr>
          <p:cNvCxnSpPr>
            <a:cxnSpLocks/>
            <a:stCxn id="12" idx="4"/>
            <a:endCxn id="7" idx="0"/>
          </p:cNvCxnSpPr>
          <p:nvPr/>
        </p:nvCxnSpPr>
        <p:spPr>
          <a:xfrm flipH="1">
            <a:off x="4522463" y="2236830"/>
            <a:ext cx="2391332" cy="1354228"/>
          </a:xfrm>
          <a:prstGeom prst="straightConnector1">
            <a:avLst/>
          </a:prstGeom>
          <a:ln>
            <a:solidFill>
              <a:schemeClr val="tx1"/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F46B787-0FBE-0B1B-2F5B-A707006BFFB5}"/>
              </a:ext>
            </a:extLst>
          </p:cNvPr>
          <p:cNvCxnSpPr>
            <a:cxnSpLocks/>
            <a:stCxn id="12" idx="4"/>
            <a:endCxn id="8" idx="0"/>
          </p:cNvCxnSpPr>
          <p:nvPr/>
        </p:nvCxnSpPr>
        <p:spPr>
          <a:xfrm flipH="1">
            <a:off x="6001639" y="2236830"/>
            <a:ext cx="912156" cy="1354228"/>
          </a:xfrm>
          <a:prstGeom prst="straightConnector1">
            <a:avLst/>
          </a:prstGeom>
          <a:ln>
            <a:solidFill>
              <a:schemeClr val="tx1"/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6D2EFCD-29D0-AA14-F549-C421F7BFD064}"/>
              </a:ext>
            </a:extLst>
          </p:cNvPr>
          <p:cNvCxnSpPr>
            <a:cxnSpLocks/>
            <a:stCxn id="12" idx="4"/>
            <a:endCxn id="10" idx="0"/>
          </p:cNvCxnSpPr>
          <p:nvPr/>
        </p:nvCxnSpPr>
        <p:spPr>
          <a:xfrm>
            <a:off x="6913795" y="2236830"/>
            <a:ext cx="567020" cy="1354228"/>
          </a:xfrm>
          <a:prstGeom prst="straightConnector1">
            <a:avLst/>
          </a:prstGeom>
          <a:ln>
            <a:solidFill>
              <a:schemeClr val="tx1"/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6486D98-DD83-91F9-069E-3507D837BE9E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6913795" y="2236830"/>
            <a:ext cx="2046196" cy="1363192"/>
          </a:xfrm>
          <a:prstGeom prst="straightConnector1">
            <a:avLst/>
          </a:prstGeom>
          <a:ln>
            <a:solidFill>
              <a:schemeClr val="tx1"/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2D97B82-DE12-5746-9B73-67FEA59A0CD8}"/>
              </a:ext>
            </a:extLst>
          </p:cNvPr>
          <p:cNvCxnSpPr>
            <a:cxnSpLocks/>
            <a:stCxn id="12" idx="4"/>
            <a:endCxn id="11" idx="0"/>
          </p:cNvCxnSpPr>
          <p:nvPr/>
        </p:nvCxnSpPr>
        <p:spPr>
          <a:xfrm>
            <a:off x="6913795" y="2236830"/>
            <a:ext cx="3525371" cy="1354228"/>
          </a:xfrm>
          <a:prstGeom prst="straightConnector1">
            <a:avLst/>
          </a:prstGeom>
          <a:ln>
            <a:solidFill>
              <a:schemeClr val="tx1"/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52DA03D-8285-26D5-468E-B34E01ACDAFD}"/>
              </a:ext>
            </a:extLst>
          </p:cNvPr>
          <p:cNvCxnSpPr>
            <a:cxnSpLocks/>
            <a:endCxn id="6" idx="2"/>
          </p:cNvCxnSpPr>
          <p:nvPr/>
        </p:nvCxnSpPr>
        <p:spPr>
          <a:xfrm flipV="1">
            <a:off x="3043286" y="4182728"/>
            <a:ext cx="0" cy="245837"/>
          </a:xfrm>
          <a:prstGeom prst="straightConnector1">
            <a:avLst/>
          </a:prstGeom>
          <a:ln>
            <a:solidFill>
              <a:schemeClr val="tx1"/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41F2784-F1EB-53AB-051D-684244A90959}"/>
              </a:ext>
            </a:extLst>
          </p:cNvPr>
          <p:cNvCxnSpPr>
            <a:cxnSpLocks/>
          </p:cNvCxnSpPr>
          <p:nvPr/>
        </p:nvCxnSpPr>
        <p:spPr>
          <a:xfrm flipV="1">
            <a:off x="4508784" y="4182728"/>
            <a:ext cx="0" cy="245837"/>
          </a:xfrm>
          <a:prstGeom prst="straightConnector1">
            <a:avLst/>
          </a:prstGeom>
          <a:ln>
            <a:solidFill>
              <a:schemeClr val="tx1"/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9DE1DC8-2290-290E-88E3-90455C954F4F}"/>
              </a:ext>
            </a:extLst>
          </p:cNvPr>
          <p:cNvCxnSpPr>
            <a:cxnSpLocks/>
          </p:cNvCxnSpPr>
          <p:nvPr/>
        </p:nvCxnSpPr>
        <p:spPr>
          <a:xfrm flipV="1">
            <a:off x="6001639" y="4182728"/>
            <a:ext cx="0" cy="245837"/>
          </a:xfrm>
          <a:prstGeom prst="straightConnector1">
            <a:avLst/>
          </a:prstGeom>
          <a:ln>
            <a:solidFill>
              <a:schemeClr val="tx1"/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C6CCE9E-AB69-8170-B15D-982B56F2EEC6}"/>
              </a:ext>
            </a:extLst>
          </p:cNvPr>
          <p:cNvCxnSpPr>
            <a:cxnSpLocks/>
          </p:cNvCxnSpPr>
          <p:nvPr/>
        </p:nvCxnSpPr>
        <p:spPr>
          <a:xfrm flipV="1">
            <a:off x="7480815" y="4182728"/>
            <a:ext cx="0" cy="245837"/>
          </a:xfrm>
          <a:prstGeom prst="straightConnector1">
            <a:avLst/>
          </a:prstGeom>
          <a:ln>
            <a:solidFill>
              <a:schemeClr val="tx1"/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9F18868-E303-0A93-9EFA-AF6D0446C0BC}"/>
              </a:ext>
            </a:extLst>
          </p:cNvPr>
          <p:cNvCxnSpPr>
            <a:cxnSpLocks/>
          </p:cNvCxnSpPr>
          <p:nvPr/>
        </p:nvCxnSpPr>
        <p:spPr>
          <a:xfrm flipV="1">
            <a:off x="8959991" y="4191692"/>
            <a:ext cx="0" cy="245837"/>
          </a:xfrm>
          <a:prstGeom prst="straightConnector1">
            <a:avLst/>
          </a:prstGeom>
          <a:ln>
            <a:solidFill>
              <a:schemeClr val="tx1"/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5D16D00-E37B-CE86-8BDF-BBDC74218287}"/>
              </a:ext>
            </a:extLst>
          </p:cNvPr>
          <p:cNvCxnSpPr>
            <a:cxnSpLocks/>
          </p:cNvCxnSpPr>
          <p:nvPr/>
        </p:nvCxnSpPr>
        <p:spPr>
          <a:xfrm flipV="1">
            <a:off x="10439166" y="4182728"/>
            <a:ext cx="0" cy="245837"/>
          </a:xfrm>
          <a:prstGeom prst="straightConnector1">
            <a:avLst/>
          </a:prstGeom>
          <a:ln>
            <a:solidFill>
              <a:schemeClr val="tx1"/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E39D5F20-3F23-27F2-0E92-609472ED27FE}"/>
              </a:ext>
            </a:extLst>
          </p:cNvPr>
          <p:cNvSpPr/>
          <p:nvPr/>
        </p:nvSpPr>
        <p:spPr>
          <a:xfrm>
            <a:off x="2893129" y="4437529"/>
            <a:ext cx="300314" cy="30101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38148B9D-8527-C494-0924-F34FB3AA153D}"/>
              </a:ext>
            </a:extLst>
          </p:cNvPr>
          <p:cNvSpPr/>
          <p:nvPr/>
        </p:nvSpPr>
        <p:spPr>
          <a:xfrm>
            <a:off x="4358627" y="4437529"/>
            <a:ext cx="300314" cy="30101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C81837CA-0F08-C460-B02E-2B34FB655166}"/>
              </a:ext>
            </a:extLst>
          </p:cNvPr>
          <p:cNvSpPr/>
          <p:nvPr/>
        </p:nvSpPr>
        <p:spPr>
          <a:xfrm>
            <a:off x="5851480" y="4437529"/>
            <a:ext cx="300314" cy="30101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49B0A8C-2361-1847-1587-A0F466246F33}"/>
              </a:ext>
            </a:extLst>
          </p:cNvPr>
          <p:cNvSpPr/>
          <p:nvPr/>
        </p:nvSpPr>
        <p:spPr>
          <a:xfrm>
            <a:off x="7330657" y="4428565"/>
            <a:ext cx="300314" cy="30101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ACAC252-5163-05F8-385B-4848CE425827}"/>
              </a:ext>
            </a:extLst>
          </p:cNvPr>
          <p:cNvSpPr/>
          <p:nvPr/>
        </p:nvSpPr>
        <p:spPr>
          <a:xfrm>
            <a:off x="8809834" y="4428565"/>
            <a:ext cx="300314" cy="30101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55B6B774-E381-CA3B-B8FE-4FE6BE7547E6}"/>
              </a:ext>
            </a:extLst>
          </p:cNvPr>
          <p:cNvSpPr/>
          <p:nvPr/>
        </p:nvSpPr>
        <p:spPr>
          <a:xfrm>
            <a:off x="10289007" y="4428565"/>
            <a:ext cx="300314" cy="30101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199C91AD-2721-1242-F2AF-CB8E8AED47AA}"/>
              </a:ext>
            </a:extLst>
          </p:cNvPr>
          <p:cNvSpPr/>
          <p:nvPr/>
        </p:nvSpPr>
        <p:spPr>
          <a:xfrm rot="5400000">
            <a:off x="5807189" y="3493463"/>
            <a:ext cx="376518" cy="2884602"/>
          </a:xfrm>
          <a:prstGeom prst="rightBracket">
            <a:avLst>
              <a:gd name="adj" fmla="val 395237"/>
            </a:avLst>
          </a:prstGeom>
          <a:ln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Right Bracket 31">
            <a:extLst>
              <a:ext uri="{FF2B5EF4-FFF2-40B4-BE49-F238E27FC236}">
                <a16:creationId xmlns:a16="http://schemas.microsoft.com/office/drawing/2014/main" id="{FF3003F7-37CD-CA12-F62C-02BC73558C57}"/>
              </a:ext>
            </a:extLst>
          </p:cNvPr>
          <p:cNvSpPr/>
          <p:nvPr/>
        </p:nvSpPr>
        <p:spPr>
          <a:xfrm rot="5400000">
            <a:off x="8022487" y="4229216"/>
            <a:ext cx="376518" cy="1395168"/>
          </a:xfrm>
          <a:prstGeom prst="rightBracket">
            <a:avLst>
              <a:gd name="adj" fmla="val 395237"/>
            </a:avLst>
          </a:prstGeom>
          <a:ln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Right Bracket 32">
            <a:extLst>
              <a:ext uri="{FF2B5EF4-FFF2-40B4-BE49-F238E27FC236}">
                <a16:creationId xmlns:a16="http://schemas.microsoft.com/office/drawing/2014/main" id="{BFB8A26A-3608-FFEA-628C-CD4055CECB33}"/>
              </a:ext>
            </a:extLst>
          </p:cNvPr>
          <p:cNvSpPr/>
          <p:nvPr/>
        </p:nvSpPr>
        <p:spPr>
          <a:xfrm rot="5400000">
            <a:off x="9507209" y="4233932"/>
            <a:ext cx="376518" cy="1385740"/>
          </a:xfrm>
          <a:prstGeom prst="rightBracket">
            <a:avLst>
              <a:gd name="adj" fmla="val 395237"/>
            </a:avLst>
          </a:prstGeom>
          <a:ln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8" name="Arc 37">
            <a:extLst>
              <a:ext uri="{FF2B5EF4-FFF2-40B4-BE49-F238E27FC236}">
                <a16:creationId xmlns:a16="http://schemas.microsoft.com/office/drawing/2014/main" id="{1AE04428-63ED-12AA-17FE-331DDBEE82E2}"/>
              </a:ext>
            </a:extLst>
          </p:cNvPr>
          <p:cNvSpPr/>
          <p:nvPr/>
        </p:nvSpPr>
        <p:spPr>
          <a:xfrm rot="9393425">
            <a:off x="2720775" y="4566835"/>
            <a:ext cx="191174" cy="202634"/>
          </a:xfrm>
          <a:prstGeom prst="arc">
            <a:avLst>
              <a:gd name="adj1" fmla="val 12922033"/>
              <a:gd name="adj2" fmla="val 8957233"/>
            </a:avLst>
          </a:prstGeom>
          <a:ln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Arc 38">
            <a:extLst>
              <a:ext uri="{FF2B5EF4-FFF2-40B4-BE49-F238E27FC236}">
                <a16:creationId xmlns:a16="http://schemas.microsoft.com/office/drawing/2014/main" id="{4AE0FCF5-9128-628F-E9FE-225BAA1D31F4}"/>
              </a:ext>
            </a:extLst>
          </p:cNvPr>
          <p:cNvSpPr/>
          <p:nvPr/>
        </p:nvSpPr>
        <p:spPr>
          <a:xfrm rot="9393425">
            <a:off x="4177800" y="4566836"/>
            <a:ext cx="191174" cy="202634"/>
          </a:xfrm>
          <a:prstGeom prst="arc">
            <a:avLst>
              <a:gd name="adj1" fmla="val 12922033"/>
              <a:gd name="adj2" fmla="val 8957233"/>
            </a:avLst>
          </a:prstGeom>
          <a:ln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" name="Arc 39">
            <a:extLst>
              <a:ext uri="{FF2B5EF4-FFF2-40B4-BE49-F238E27FC236}">
                <a16:creationId xmlns:a16="http://schemas.microsoft.com/office/drawing/2014/main" id="{9CD90662-F84F-CA17-2B6D-9B21C6D4573C}"/>
              </a:ext>
            </a:extLst>
          </p:cNvPr>
          <p:cNvSpPr/>
          <p:nvPr/>
        </p:nvSpPr>
        <p:spPr>
          <a:xfrm rot="9393425">
            <a:off x="5679185" y="4617700"/>
            <a:ext cx="191174" cy="202634"/>
          </a:xfrm>
          <a:prstGeom prst="arc">
            <a:avLst>
              <a:gd name="adj1" fmla="val 12922033"/>
              <a:gd name="adj2" fmla="val 8957233"/>
            </a:avLst>
          </a:prstGeom>
          <a:ln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1" name="Arc 40">
            <a:extLst>
              <a:ext uri="{FF2B5EF4-FFF2-40B4-BE49-F238E27FC236}">
                <a16:creationId xmlns:a16="http://schemas.microsoft.com/office/drawing/2014/main" id="{ABD72050-FD80-DB65-C736-0961FB8C5711}"/>
              </a:ext>
            </a:extLst>
          </p:cNvPr>
          <p:cNvSpPr/>
          <p:nvPr/>
        </p:nvSpPr>
        <p:spPr>
          <a:xfrm rot="9393425">
            <a:off x="7171764" y="4562571"/>
            <a:ext cx="191174" cy="202634"/>
          </a:xfrm>
          <a:prstGeom prst="arc">
            <a:avLst>
              <a:gd name="adj1" fmla="val 12922033"/>
              <a:gd name="adj2" fmla="val 8957233"/>
            </a:avLst>
          </a:prstGeom>
          <a:ln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2" name="Arc 41">
            <a:extLst>
              <a:ext uri="{FF2B5EF4-FFF2-40B4-BE49-F238E27FC236}">
                <a16:creationId xmlns:a16="http://schemas.microsoft.com/office/drawing/2014/main" id="{021289FC-8D2B-5C82-F19C-5ECE1BE252D9}"/>
              </a:ext>
            </a:extLst>
          </p:cNvPr>
          <p:cNvSpPr/>
          <p:nvPr/>
        </p:nvSpPr>
        <p:spPr>
          <a:xfrm rot="9393425">
            <a:off x="8648074" y="4540948"/>
            <a:ext cx="191174" cy="202634"/>
          </a:xfrm>
          <a:prstGeom prst="arc">
            <a:avLst>
              <a:gd name="adj1" fmla="val 12922033"/>
              <a:gd name="adj2" fmla="val 8957233"/>
            </a:avLst>
          </a:prstGeom>
          <a:ln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Arc 42">
            <a:extLst>
              <a:ext uri="{FF2B5EF4-FFF2-40B4-BE49-F238E27FC236}">
                <a16:creationId xmlns:a16="http://schemas.microsoft.com/office/drawing/2014/main" id="{061F2B90-542F-70A1-DE85-B69E2603F9F1}"/>
              </a:ext>
            </a:extLst>
          </p:cNvPr>
          <p:cNvSpPr/>
          <p:nvPr/>
        </p:nvSpPr>
        <p:spPr>
          <a:xfrm rot="9393425">
            <a:off x="10119881" y="4550421"/>
            <a:ext cx="191174" cy="202634"/>
          </a:xfrm>
          <a:prstGeom prst="arc">
            <a:avLst>
              <a:gd name="adj1" fmla="val 12922033"/>
              <a:gd name="adj2" fmla="val 8957233"/>
            </a:avLst>
          </a:prstGeom>
          <a:ln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1A86AA9-530A-4FE7-44F0-E248901ED0D0}"/>
              </a:ext>
            </a:extLst>
          </p:cNvPr>
          <p:cNvSpPr txBox="1"/>
          <p:nvPr/>
        </p:nvSpPr>
        <p:spPr>
          <a:xfrm>
            <a:off x="4422784" y="2858162"/>
            <a:ext cx="636278" cy="292388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wrap="square" rtlCol="0">
            <a:spAutoFit/>
          </a:bodyPr>
          <a:lstStyle/>
          <a:p>
            <a:pPr algn="ctr"/>
            <a:r>
              <a:rPr lang="en-GB" sz="1300" dirty="0"/>
              <a:t>0.59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3B8186E-0571-CC7E-9750-B7541551A504}"/>
              </a:ext>
            </a:extLst>
          </p:cNvPr>
          <p:cNvSpPr txBox="1"/>
          <p:nvPr/>
        </p:nvSpPr>
        <p:spPr>
          <a:xfrm>
            <a:off x="5043861" y="2952190"/>
            <a:ext cx="636278" cy="292388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wrap="square" rtlCol="0">
            <a:spAutoFit/>
          </a:bodyPr>
          <a:lstStyle/>
          <a:p>
            <a:pPr algn="ctr"/>
            <a:r>
              <a:rPr lang="en-GB" sz="1300" dirty="0"/>
              <a:t>0.37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4BD62CF-9459-EDF7-E726-610B64B50D49}"/>
              </a:ext>
            </a:extLst>
          </p:cNvPr>
          <p:cNvSpPr txBox="1"/>
          <p:nvPr/>
        </p:nvSpPr>
        <p:spPr>
          <a:xfrm>
            <a:off x="5995448" y="2974554"/>
            <a:ext cx="636278" cy="292388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wrap="square" rtlCol="0">
            <a:spAutoFit/>
          </a:bodyPr>
          <a:lstStyle/>
          <a:p>
            <a:pPr algn="ctr"/>
            <a:r>
              <a:rPr lang="en-GB" sz="1300" dirty="0"/>
              <a:t>0.47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26B12F1-BF05-17CF-4FC8-117BEC1156F6}"/>
              </a:ext>
            </a:extLst>
          </p:cNvPr>
          <p:cNvSpPr txBox="1"/>
          <p:nvPr/>
        </p:nvSpPr>
        <p:spPr>
          <a:xfrm>
            <a:off x="6917771" y="2969517"/>
            <a:ext cx="636278" cy="292388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wrap="square" rtlCol="0">
            <a:spAutoFit/>
          </a:bodyPr>
          <a:lstStyle/>
          <a:p>
            <a:pPr algn="ctr"/>
            <a:r>
              <a:rPr lang="en-GB" sz="1300" dirty="0"/>
              <a:t>0.43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5C9027F-7797-2465-7429-9594BA1263BC}"/>
              </a:ext>
            </a:extLst>
          </p:cNvPr>
          <p:cNvSpPr txBox="1"/>
          <p:nvPr/>
        </p:nvSpPr>
        <p:spPr>
          <a:xfrm>
            <a:off x="7889756" y="2948492"/>
            <a:ext cx="636278" cy="292388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wrap="square" rtlCol="0">
            <a:spAutoFit/>
          </a:bodyPr>
          <a:lstStyle/>
          <a:p>
            <a:pPr algn="ctr"/>
            <a:r>
              <a:rPr lang="en-GB" sz="1300" dirty="0"/>
              <a:t>0.37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4AFD19F-A603-026E-FA20-E7883EA96258}"/>
              </a:ext>
            </a:extLst>
          </p:cNvPr>
          <p:cNvSpPr txBox="1"/>
          <p:nvPr/>
        </p:nvSpPr>
        <p:spPr>
          <a:xfrm>
            <a:off x="8745161" y="2913944"/>
            <a:ext cx="636278" cy="292388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wrap="square" rtlCol="0">
            <a:spAutoFit/>
          </a:bodyPr>
          <a:lstStyle/>
          <a:p>
            <a:pPr algn="ctr"/>
            <a:r>
              <a:rPr lang="en-GB" sz="1300" dirty="0"/>
              <a:t>0.23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A630B73-93D5-CB8A-6228-D756B151152A}"/>
              </a:ext>
            </a:extLst>
          </p:cNvPr>
          <p:cNvSpPr txBox="1"/>
          <p:nvPr/>
        </p:nvSpPr>
        <p:spPr>
          <a:xfrm>
            <a:off x="5246029" y="1162220"/>
            <a:ext cx="636278" cy="292388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wrap="square" rtlCol="0">
            <a:spAutoFit/>
          </a:bodyPr>
          <a:lstStyle/>
          <a:p>
            <a:pPr algn="ctr"/>
            <a:r>
              <a:rPr lang="en-GB" sz="1300" dirty="0"/>
              <a:t>0.24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C58E9684-2E9D-1729-5FE1-658C792A5321}"/>
              </a:ext>
            </a:extLst>
          </p:cNvPr>
          <p:cNvSpPr/>
          <p:nvPr/>
        </p:nvSpPr>
        <p:spPr>
          <a:xfrm>
            <a:off x="7744451" y="746180"/>
            <a:ext cx="300314" cy="30101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0935158B-2F02-6F73-223B-BD1898088A2B}"/>
              </a:ext>
            </a:extLst>
          </p:cNvPr>
          <p:cNvCxnSpPr>
            <a:cxnSpLocks/>
            <a:stCxn id="51" idx="3"/>
            <a:endCxn id="12" idx="7"/>
          </p:cNvCxnSpPr>
          <p:nvPr/>
        </p:nvCxnSpPr>
        <p:spPr>
          <a:xfrm flipH="1">
            <a:off x="7420915" y="1003110"/>
            <a:ext cx="367516" cy="25428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Arc 52">
            <a:extLst>
              <a:ext uri="{FF2B5EF4-FFF2-40B4-BE49-F238E27FC236}">
                <a16:creationId xmlns:a16="http://schemas.microsoft.com/office/drawing/2014/main" id="{8863EAD4-CCDE-0114-5618-C5932619B49E}"/>
              </a:ext>
            </a:extLst>
          </p:cNvPr>
          <p:cNvSpPr/>
          <p:nvPr/>
        </p:nvSpPr>
        <p:spPr>
          <a:xfrm rot="947224">
            <a:off x="8018796" y="885564"/>
            <a:ext cx="191174" cy="202634"/>
          </a:xfrm>
          <a:prstGeom prst="arc">
            <a:avLst>
              <a:gd name="adj1" fmla="val 12922033"/>
              <a:gd name="adj2" fmla="val 8957233"/>
            </a:avLst>
          </a:prstGeom>
          <a:ln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1522D94-E614-6F1E-6D9A-BA668E571F24}"/>
              </a:ext>
            </a:extLst>
          </p:cNvPr>
          <p:cNvSpPr txBox="1"/>
          <p:nvPr/>
        </p:nvSpPr>
        <p:spPr>
          <a:xfrm>
            <a:off x="8076211" y="865921"/>
            <a:ext cx="1228587" cy="292388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wrap="square" rtlCol="0">
            <a:spAutoFit/>
          </a:bodyPr>
          <a:lstStyle/>
          <a:p>
            <a:r>
              <a:rPr lang="en-GB" sz="1300" dirty="0"/>
              <a:t>1.00 / 1.00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04CD404-158A-B640-21E5-4EDC77A7C461}"/>
              </a:ext>
            </a:extLst>
          </p:cNvPr>
          <p:cNvSpPr txBox="1"/>
          <p:nvPr/>
        </p:nvSpPr>
        <p:spPr>
          <a:xfrm>
            <a:off x="9257173" y="4533680"/>
            <a:ext cx="991506" cy="292388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wrap="square" rtlCol="0">
            <a:spAutoFit/>
          </a:bodyPr>
          <a:lstStyle/>
          <a:p>
            <a:pPr algn="r"/>
            <a:r>
              <a:rPr lang="en-GB" sz="1300" dirty="0"/>
              <a:t>0.70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1F60667-3433-D87F-6CEF-AAB27E5EC2E4}"/>
              </a:ext>
            </a:extLst>
          </p:cNvPr>
          <p:cNvSpPr txBox="1"/>
          <p:nvPr/>
        </p:nvSpPr>
        <p:spPr>
          <a:xfrm>
            <a:off x="7804299" y="4520938"/>
            <a:ext cx="991506" cy="292388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wrap="square" rtlCol="0">
            <a:spAutoFit/>
          </a:bodyPr>
          <a:lstStyle/>
          <a:p>
            <a:pPr algn="r"/>
            <a:r>
              <a:rPr lang="en-GB" sz="1300" dirty="0"/>
              <a:t>0.81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921D287-E7D8-F7E9-6DB7-C5CA8CB03256}"/>
              </a:ext>
            </a:extLst>
          </p:cNvPr>
          <p:cNvSpPr txBox="1"/>
          <p:nvPr/>
        </p:nvSpPr>
        <p:spPr>
          <a:xfrm>
            <a:off x="6299357" y="4537502"/>
            <a:ext cx="991506" cy="292388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wrap="square" rtlCol="0">
            <a:spAutoFit/>
          </a:bodyPr>
          <a:lstStyle/>
          <a:p>
            <a:pPr algn="r"/>
            <a:r>
              <a:rPr lang="en-GB" sz="1300" dirty="0"/>
              <a:t>0.78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126102A-4612-3B2E-038A-6CD8B610AF6D}"/>
              </a:ext>
            </a:extLst>
          </p:cNvPr>
          <p:cNvSpPr txBox="1"/>
          <p:nvPr/>
        </p:nvSpPr>
        <p:spPr>
          <a:xfrm>
            <a:off x="5090472" y="4564464"/>
            <a:ext cx="723417" cy="292388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wrap="square" rtlCol="0">
            <a:spAutoFit/>
          </a:bodyPr>
          <a:lstStyle/>
          <a:p>
            <a:pPr algn="r"/>
            <a:r>
              <a:rPr lang="en-GB" sz="1300" dirty="0"/>
              <a:t>0.73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41A9C71-15F3-B707-CD29-06A3CF5352BA}"/>
              </a:ext>
            </a:extLst>
          </p:cNvPr>
          <p:cNvSpPr txBox="1"/>
          <p:nvPr/>
        </p:nvSpPr>
        <p:spPr>
          <a:xfrm>
            <a:off x="3334832" y="4559038"/>
            <a:ext cx="991506" cy="292388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wrap="square" rtlCol="0">
            <a:spAutoFit/>
          </a:bodyPr>
          <a:lstStyle/>
          <a:p>
            <a:pPr algn="r"/>
            <a:r>
              <a:rPr lang="en-GB" sz="1300" dirty="0"/>
              <a:t>0.57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7D20110-58F3-0132-A43C-CD838CCB7978}"/>
              </a:ext>
            </a:extLst>
          </p:cNvPr>
          <p:cNvSpPr txBox="1"/>
          <p:nvPr/>
        </p:nvSpPr>
        <p:spPr>
          <a:xfrm>
            <a:off x="1867776" y="4537170"/>
            <a:ext cx="991506" cy="292388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wrap="square" rtlCol="0">
            <a:spAutoFit/>
          </a:bodyPr>
          <a:lstStyle/>
          <a:p>
            <a:pPr algn="r"/>
            <a:r>
              <a:rPr lang="en-GB" sz="1300" dirty="0"/>
              <a:t>0.60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6556D8C-ED23-E94E-A03A-23CF899C3732}"/>
              </a:ext>
            </a:extLst>
          </p:cNvPr>
          <p:cNvSpPr txBox="1"/>
          <p:nvPr/>
        </p:nvSpPr>
        <p:spPr>
          <a:xfrm>
            <a:off x="7936893" y="4966975"/>
            <a:ext cx="529237" cy="292388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wrap="square" rtlCol="0">
            <a:spAutoFit/>
          </a:bodyPr>
          <a:lstStyle/>
          <a:p>
            <a:pPr algn="ctr"/>
            <a:r>
              <a:rPr lang="en-GB" sz="1300" dirty="0"/>
              <a:t>0.12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74CAB63-C772-26E1-0A29-97DD69753AAB}"/>
              </a:ext>
            </a:extLst>
          </p:cNvPr>
          <p:cNvSpPr txBox="1"/>
          <p:nvPr/>
        </p:nvSpPr>
        <p:spPr>
          <a:xfrm>
            <a:off x="9430849" y="4966975"/>
            <a:ext cx="529237" cy="292388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wrap="square" rtlCol="0">
            <a:spAutoFit/>
          </a:bodyPr>
          <a:lstStyle/>
          <a:p>
            <a:pPr algn="ctr"/>
            <a:r>
              <a:rPr lang="en-GB" sz="1300" dirty="0"/>
              <a:t>0.20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F3E2D47-62B7-551B-4B62-9ED6D39EAC7B}"/>
              </a:ext>
            </a:extLst>
          </p:cNvPr>
          <p:cNvSpPr txBox="1"/>
          <p:nvPr/>
        </p:nvSpPr>
        <p:spPr>
          <a:xfrm>
            <a:off x="5631527" y="4969808"/>
            <a:ext cx="652679" cy="292388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wrap="square" rtlCol="0">
            <a:spAutoFit/>
          </a:bodyPr>
          <a:lstStyle/>
          <a:p>
            <a:pPr algn="r"/>
            <a:r>
              <a:rPr lang="en-GB" sz="1300" dirty="0"/>
              <a:t>−0.10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73582CEC-0EF7-F1BF-E00D-4BA7C2C0D8DC}"/>
              </a:ext>
            </a:extLst>
          </p:cNvPr>
          <p:cNvSpPr/>
          <p:nvPr/>
        </p:nvSpPr>
        <p:spPr>
          <a:xfrm>
            <a:off x="3665537" y="1546660"/>
            <a:ext cx="1200303" cy="72132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Group</a:t>
            </a:r>
          </a:p>
          <a:p>
            <a:pPr algn="ctr"/>
            <a:r>
              <a:rPr lang="en-GB" sz="1400" dirty="0">
                <a:solidFill>
                  <a:schemeClr val="tx1"/>
                </a:solidFill>
              </a:rPr>
              <a:t>(0/1)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A5D011E9-22EB-48A6-0794-B53CE60C3D74}"/>
              </a:ext>
            </a:extLst>
          </p:cNvPr>
          <p:cNvCxnSpPr>
            <a:cxnSpLocks/>
            <a:stCxn id="68" idx="3"/>
          </p:cNvCxnSpPr>
          <p:nvPr/>
        </p:nvCxnSpPr>
        <p:spPr>
          <a:xfrm flipV="1">
            <a:off x="4865840" y="1828800"/>
            <a:ext cx="1353985" cy="78521"/>
          </a:xfrm>
          <a:prstGeom prst="straightConnector1">
            <a:avLst/>
          </a:prstGeom>
          <a:ln>
            <a:solidFill>
              <a:schemeClr val="tx1"/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AD433DC4-D081-887D-4117-B34228E6FED3}"/>
              </a:ext>
            </a:extLst>
          </p:cNvPr>
          <p:cNvSpPr txBox="1"/>
          <p:nvPr/>
        </p:nvSpPr>
        <p:spPr>
          <a:xfrm>
            <a:off x="5224693" y="1716253"/>
            <a:ext cx="636278" cy="292388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wrap="square" rtlCol="0">
            <a:spAutoFit/>
          </a:bodyPr>
          <a:lstStyle/>
          <a:p>
            <a:pPr algn="ctr"/>
            <a:r>
              <a:rPr lang="en-GB" sz="1300" dirty="0"/>
              <a:t>0.44</a:t>
            </a:r>
          </a:p>
        </p:txBody>
      </p:sp>
      <p:sp>
        <p:nvSpPr>
          <p:cNvPr id="77" name="Free-form: Shape 76">
            <a:extLst>
              <a:ext uri="{FF2B5EF4-FFF2-40B4-BE49-F238E27FC236}">
                <a16:creationId xmlns:a16="http://schemas.microsoft.com/office/drawing/2014/main" id="{1A152B15-890E-3DF9-4F14-78D49D8686F0}"/>
              </a:ext>
            </a:extLst>
          </p:cNvPr>
          <p:cNvSpPr/>
          <p:nvPr/>
        </p:nvSpPr>
        <p:spPr>
          <a:xfrm>
            <a:off x="4047695" y="2276475"/>
            <a:ext cx="209979" cy="1314450"/>
          </a:xfrm>
          <a:custGeom>
            <a:avLst/>
            <a:gdLst>
              <a:gd name="connsiteX0" fmla="*/ 124254 w 162354"/>
              <a:gd name="connsiteY0" fmla="*/ 0 h 1285875"/>
              <a:gd name="connsiteX1" fmla="*/ 429 w 162354"/>
              <a:gd name="connsiteY1" fmla="*/ 552450 h 1285875"/>
              <a:gd name="connsiteX2" fmla="*/ 162354 w 162354"/>
              <a:gd name="connsiteY2" fmla="*/ 1285875 h 12858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2354" h="1285875">
                <a:moveTo>
                  <a:pt x="124254" y="0"/>
                </a:moveTo>
                <a:cubicBezTo>
                  <a:pt x="59166" y="169069"/>
                  <a:pt x="-5921" y="338138"/>
                  <a:pt x="429" y="552450"/>
                </a:cubicBezTo>
                <a:cubicBezTo>
                  <a:pt x="6779" y="766762"/>
                  <a:pt x="84566" y="1026318"/>
                  <a:pt x="162354" y="1285875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arrow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9" name="Free-form: Shape 78">
            <a:extLst>
              <a:ext uri="{FF2B5EF4-FFF2-40B4-BE49-F238E27FC236}">
                <a16:creationId xmlns:a16="http://schemas.microsoft.com/office/drawing/2014/main" id="{DDCB45C0-673D-5826-2804-7CB791FE79E9}"/>
              </a:ext>
            </a:extLst>
          </p:cNvPr>
          <p:cNvSpPr/>
          <p:nvPr/>
        </p:nvSpPr>
        <p:spPr>
          <a:xfrm>
            <a:off x="4513098" y="2266950"/>
            <a:ext cx="6259677" cy="1314450"/>
          </a:xfrm>
          <a:custGeom>
            <a:avLst/>
            <a:gdLst>
              <a:gd name="connsiteX0" fmla="*/ 1751 w 6250151"/>
              <a:gd name="connsiteY0" fmla="*/ 0 h 1285875"/>
              <a:gd name="connsiteX1" fmla="*/ 630401 w 6250151"/>
              <a:gd name="connsiteY1" fmla="*/ 257175 h 1285875"/>
              <a:gd name="connsiteX2" fmla="*/ 3868901 w 6250151"/>
              <a:gd name="connsiteY2" fmla="*/ 285750 h 1285875"/>
              <a:gd name="connsiteX3" fmla="*/ 6250151 w 6250151"/>
              <a:gd name="connsiteY3" fmla="*/ 1285875 h 12858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250151" h="1285875">
                <a:moveTo>
                  <a:pt x="1751" y="0"/>
                </a:moveTo>
                <a:cubicBezTo>
                  <a:pt x="-6187" y="104775"/>
                  <a:pt x="-14124" y="209550"/>
                  <a:pt x="630401" y="257175"/>
                </a:cubicBezTo>
                <a:cubicBezTo>
                  <a:pt x="1274926" y="304800"/>
                  <a:pt x="2932276" y="114300"/>
                  <a:pt x="3868901" y="285750"/>
                </a:cubicBezTo>
                <a:cubicBezTo>
                  <a:pt x="4805526" y="457200"/>
                  <a:pt x="5527838" y="871537"/>
                  <a:pt x="6250151" y="1285875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arrow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4289CA4-EF04-BA42-9B27-D95C5F870DA1}"/>
              </a:ext>
            </a:extLst>
          </p:cNvPr>
          <p:cNvSpPr txBox="1"/>
          <p:nvPr/>
        </p:nvSpPr>
        <p:spPr>
          <a:xfrm>
            <a:off x="3752382" y="2628884"/>
            <a:ext cx="636278" cy="292388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wrap="square" rtlCol="0">
            <a:spAutoFit/>
          </a:bodyPr>
          <a:lstStyle/>
          <a:p>
            <a:pPr algn="ctr"/>
            <a:r>
              <a:rPr lang="en-GB" sz="1300" dirty="0"/>
              <a:t>0.14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B0C923C-D203-8FF4-F9B9-C241FF55D524}"/>
              </a:ext>
            </a:extLst>
          </p:cNvPr>
          <p:cNvSpPr txBox="1"/>
          <p:nvPr/>
        </p:nvSpPr>
        <p:spPr>
          <a:xfrm>
            <a:off x="4878992" y="2363157"/>
            <a:ext cx="562057" cy="292388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wrap="square" rtlCol="0">
            <a:spAutoFit/>
          </a:bodyPr>
          <a:lstStyle/>
          <a:p>
            <a:pPr algn="ctr"/>
            <a:r>
              <a:rPr lang="en-GB" sz="1300" dirty="0"/>
              <a:t>0.86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E52AC3B-8124-7CAF-EC3D-7BD86665CC6C}"/>
              </a:ext>
            </a:extLst>
          </p:cNvPr>
          <p:cNvSpPr txBox="1"/>
          <p:nvPr/>
        </p:nvSpPr>
        <p:spPr>
          <a:xfrm>
            <a:off x="0" y="0"/>
            <a:ext cx="3078706" cy="292388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wrap="square" rtlCol="0">
            <a:spAutoFit/>
          </a:bodyPr>
          <a:lstStyle/>
          <a:p>
            <a:r>
              <a:rPr lang="en-GB" sz="1300" dirty="0"/>
              <a:t>NOT standardized coefficients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B7640B-5868-F6A1-1049-6A65F026678C}"/>
              </a:ext>
            </a:extLst>
          </p:cNvPr>
          <p:cNvSpPr txBox="1"/>
          <p:nvPr/>
        </p:nvSpPr>
        <p:spPr>
          <a:xfrm>
            <a:off x="155405" y="6229350"/>
            <a:ext cx="4710435" cy="292388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wrap="square" rtlCol="0">
            <a:spAutoFit/>
          </a:bodyPr>
          <a:lstStyle/>
          <a:p>
            <a:r>
              <a:rPr lang="el-GR" sz="1300" dirty="0"/>
              <a:t>χ</a:t>
            </a:r>
            <a:r>
              <a:rPr lang="en-GB" sz="1300" baseline="30000" dirty="0"/>
              <a:t>2</a:t>
            </a:r>
            <a:r>
              <a:rPr lang="en-GB" sz="1300" dirty="0"/>
              <a:t>(29) = 54.324; p = 0.003; RMSEA = 0.027; CFI = 0.979</a:t>
            </a:r>
          </a:p>
        </p:txBody>
      </p:sp>
    </p:spTree>
    <p:extLst>
      <p:ext uri="{BB962C8B-B14F-4D97-AF65-F5344CB8AC3E}">
        <p14:creationId xmlns:p14="http://schemas.microsoft.com/office/powerpoint/2010/main" val="27473456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</TotalTime>
  <Words>139</Words>
  <Application>Microsoft Office PowerPoint</Application>
  <PresentationFormat>Widescreen</PresentationFormat>
  <Paragraphs>66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Enrico Toffalini</dc:creator>
  <cp:lastModifiedBy>Enrico Toffalini</cp:lastModifiedBy>
  <cp:revision>26</cp:revision>
  <dcterms:created xsi:type="dcterms:W3CDTF">2026-04-11T08:35:12Z</dcterms:created>
  <dcterms:modified xsi:type="dcterms:W3CDTF">2026-04-11T11:51:50Z</dcterms:modified>
</cp:coreProperties>
</file>